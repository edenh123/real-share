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A6B78"/>
                </a:solidFill>
                <a:latin typeface="Arial"/>
              </a:rPr>
              <a:t>חשבונות מסחר קמעונאיים חדשים בישראל (אלפים)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חשבונות חדשים (אלפים)</c:v>
                </c:pt>
              </c:strCache>
            </c:strRef>
          </c:tx>
          <c:spPr>
            <a:solidFill>
              <a:srgbClr val="0F22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2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2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2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45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2020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141</c:v>
                </c:pt>
                <c:pt idx="2">
                  <c:v>54</c:v>
                </c:pt>
                <c:pt idx="3">
                  <c:v>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2E7D5B"/>
            </a:solidFill>
            <a:ln w="31750" cap="flat">
              <a:solidFill>
                <a:srgbClr val="2E7D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72</c:v>
                </c:pt>
                <c:pt idx="2">
                  <c:v>71</c:v>
                </c:pt>
                <c:pt idx="3">
                  <c:v>74</c:v>
                </c:pt>
                <c:pt idx="4">
                  <c:v>76</c:v>
                </c:pt>
                <c:pt idx="5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383280"/>
            <a:ext cx="3840480" cy="3840480"/>
          </a:xfrm>
          <a:prstGeom prst="ellipse">
            <a:avLst/>
          </a:prstGeom>
          <a:solidFill>
            <a:srgbClr val="1F667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114800"/>
            <a:ext cx="2377440" cy="2377440"/>
          </a:xfrm>
          <a:prstGeom prst="ellipse">
            <a:avLst/>
          </a:prstGeom>
          <a:solidFill>
            <a:srgbClr val="E0A45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RealShare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96112" y="2468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A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בעלות חלקית בנדל"ן מניב, למשקיעים ישראלים —</a:t>
            </a:r>
            <a:endParaRPr lang="en-US" sz="18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A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בישראל ובחו"ל.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טיוטה לעבודה — אשמח לקריאה כנה וביקורתית שלך.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7E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תדריך ליועץ  ·  יוני 2026  ·  עדן הייזר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46817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חסוי — לדיון בלבד · אינו הצעה או ייעוץ השקעות/מס · נתונים להמחשה, קיים סיכון הון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ישראלים רוצים נדל"ן — אבל הכניסה כבדה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0" y="178308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07808" y="207568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984" y="2246864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204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 כניסה יקר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92040" y="2423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דירה שלמה = ‎€100K+‎ מראש. רובם פשוט לא מתחילים.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178308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207568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744" y="2246864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הביצים בדירה אחת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5800" y="2423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נכס בודד הוא הימור מרוכז, ללא פיזור.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709160" y="34747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07808" y="376732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984" y="3938504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3721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מרחוק ותובעני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9204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נכס בחו"ל = ניהול דיירים ותחזוקה מרחוק.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4747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01568" y="3767328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744" y="3938504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721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נזיל ומורכב במס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8580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קשה לצאת, ודיווח מס חוצה-גבולות הוא מבוך.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עכשיו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והתיאבון מעולם לא היה גבוה יותר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63440" y="18288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500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161,000</a:t>
            </a:r>
            <a:endParaRPr lang="en-US" sz="5000" dirty="0"/>
          </a:p>
          <a:p>
            <a:pPr algn="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חשבונות מסחר ישראליים חדשים נפתחו ב-2024</a:t>
            </a:r>
            <a:endParaRPr lang="en-US" sz="5000" dirty="0"/>
          </a:p>
          <a:p>
            <a:pPr algn="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פי שלושה מ-2023.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663440" y="32461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מ-100K</a:t>
            </a:r>
            <a:pPr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חשבונות חדשים בשנה לפני 2020.</a:t>
            </a:r>
            <a:endParaRPr lang="en-US" sz="13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+87,000</a:t>
            </a:r>
            <a:pPr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נוספים במחצית הראשונה של 2025 בלבד.</a:t>
            </a:r>
            <a:endParaRPr lang="en-US" sz="13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דור ה-Y וה-Z</a:t>
            </a:r>
            <a:pPr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מובילים את הגל.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מקורות: הבורסה בת"א / CNBC (2025); ISRAEL21c (2021). נתוני בורסה כפי שדווחו בתקשורת — לאימות מול דוחות הבורסה.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קונים פיסה. מרוויחים כמו בעלים.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בעלות על חלק מנכס מניב מבוקר ← שכר דירה יחסי + רווחי הון ← בלי ניהול. אפשר להתחיל מטוקן אחד.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78040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44384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7" name="Text 5"/>
          <p:cNvSpPr/>
          <p:nvPr/>
        </p:nvSpPr>
        <p:spPr>
          <a:xfrm>
            <a:off x="7644384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87768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והערכה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87768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הנכס נרשם; שמאות בלתי תלויה.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95160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95544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61888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5961888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05272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סבב גיוס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05272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כספים בנאמנות. נכשל? החזר + ריבית.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12664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813048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22776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רכישה והפעלה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22776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RealShare רוכשת; הטוקנים מופעלים.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30168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130552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96896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25" name="Text 23"/>
          <p:cNvSpPr/>
          <p:nvPr/>
        </p:nvSpPr>
        <p:spPr>
          <a:xfrm>
            <a:off x="2596896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240280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הכנסה חודשית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240280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שכ"ד נגבה ומחולק באופן יחסי.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47672" y="2788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48056" y="2331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2587752"/>
            <a:ext cx="585216" cy="585216"/>
          </a:xfrm>
          <a:prstGeom prst="ellipse">
            <a:avLst/>
          </a:prstGeom>
          <a:solidFill>
            <a:srgbClr val="0F2233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7784" y="32918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יציאה בהצבעה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57784" y="37033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מיוחס יכול להחליט על מכירה.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מאיפה הרעיון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המודל: "Blink לנדל"ן"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</a:t>
            </a:r>
            <a:pPr algn="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(הוקמה ב-2023) הפכה השקעה חלקית ללא עמלות ב</a:t>
            </a:r>
            <a:pPr algn="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מניות</a:t>
            </a:r>
            <a:pPr algn="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לנורמלית בישראל — וניצחה בזכות </a:t>
            </a:r>
            <a:pPr algn="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הפקה אוטומטית של דוח המס השנתי.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22860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0" y="2606040"/>
            <a:ext cx="777240" cy="77724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18" y="27925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מניות ← Blink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סכומים קטנים. ללא עמלות. המס מטופל עבורך.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2606040"/>
            <a:ext cx="777240" cy="77724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738" y="27925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נדל"ן ← RealShare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152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מתכון, מיושם על נדל"ן.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4048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יאושר שהטוקן ממוסה כמו מניה, RealShare תוכל להפיק גם את דוח המס אוטומטית — </a:t>
            </a:r>
            <a:pPr algn="ctr" indent="0" marL="0">
              <a:buNone/>
            </a:pPr>
            <a:r>
              <a:rPr lang="en-US" sz="14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אוטומציית המס היא הפרס.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הבעלות נרשמת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שלך הוא טוקן — העטיפה, לא העיקר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0" y="1783080"/>
            <a:ext cx="3200400" cy="2606040"/>
          </a:xfrm>
          <a:prstGeom prst="roundRect">
            <a:avLst>
              <a:gd name="adj" fmla="val 3509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6547104" y="2011680"/>
            <a:ext cx="713232" cy="713232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8280" y="2182856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נכס אחד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35824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0A458"/>
          </a:solidFill>
          <a:ln/>
        </p:spPr>
      </p:sp>
      <p:sp>
        <p:nvSpPr>
          <p:cNvPr id="9" name="Shape 6"/>
          <p:cNvSpPr/>
          <p:nvPr/>
        </p:nvSpPr>
        <p:spPr>
          <a:xfrm>
            <a:off x="7443216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150608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0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565392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272784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80176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687568" y="3154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735824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443216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150608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565392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272784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980176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687568" y="34472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F6675">
              <a:alpha val="5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303520" y="3822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9D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מפוצל לטוקנים סחירים — אחד (זהב) הוא החלק שלך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06240" y="1783080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859" y="1936699"/>
            <a:ext cx="332842" cy="33284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640" y="176479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זכות, לא מפתח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48640" y="2084832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C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טוקן מגלם זכויות פיננסיות — שכ"ד נטו + תמורת מכירה — לאותו נכס ספציפי. לא רישום בטאבו, לא מניות בחברה.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206240" y="2953512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859" y="3107131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" y="293522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בלוקצ'יין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548640" y="3255264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C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תשתית: רישום נקי של מי מחזיק במה, העברה מיידית בשוק המשני, זהות אחת לכל מחזיק.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4069080"/>
            <a:ext cx="4297680" cy="713232"/>
          </a:xfrm>
          <a:prstGeom prst="roundRect">
            <a:avLst/>
          </a:prstGeom>
          <a:solidFill>
            <a:srgbClr val="E0A458"/>
          </a:solidFill>
          <a:ln/>
        </p:spPr>
      </p:sp>
      <p:sp>
        <p:nvSpPr>
          <p:cNvPr id="34" name="Text 29"/>
          <p:cNvSpPr/>
          <p:nvPr/>
        </p:nvSpPr>
        <p:spPr>
          <a:xfrm>
            <a:off x="777240" y="40690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הכוונה: יטופל כנייר ערך ("כמו מניה") </a:t>
            </a:r>
            <a:pPr algn="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D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 שהמס והדיווח יהיו נקיים ואוטומטיים — הסיווג כפוף להחלטת רשות המסים.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נזילות מובנית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שוק מובנה לטוקנים שלך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זירת מסחר באפליקציה שבה מחזיקים קונים ומוכרים טוקנים — דרך לסחור בחלק שלך בלי למכור דירה שלמה.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12080" y="2011680"/>
            <a:ext cx="33832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0" y="2011680"/>
            <a:ext cx="3383280" cy="566928"/>
          </a:xfrm>
          <a:prstGeom prst="roundRect">
            <a:avLst>
              <a:gd name="adj" fmla="val 16129"/>
            </a:avLst>
          </a:prstGeom>
          <a:solidFill>
            <a:srgbClr val="0F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0" y="2304288"/>
            <a:ext cx="3383280" cy="274320"/>
          </a:xfrm>
          <a:prstGeom prst="rect">
            <a:avLst/>
          </a:prstGeom>
          <a:solidFill>
            <a:srgbClr val="0F22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20116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בודפשט · רובע VII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2724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טוקן משוער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€78</a:t>
            </a:r>
            <a:pPr algn="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‎€3↑‎ מהרבעון הקודם</a:t>
            </a:r>
            <a:endParaRPr lang="en-US" sz="3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40680" y="3493008"/>
          <a:ext cx="2926080" cy="457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949440" y="400507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0A458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40050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מכירה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0" y="400507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0F2233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40050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קנייה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12080" y="44897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הדמיה בלבד — לא נתוני שוק אמיתיים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33672" y="187452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735" y="20105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183794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מכירה בכל עת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48640" y="21488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פרסמו טוקנים או קבלו הצעה — יציאה בלי למכור את כל הבניין.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233672" y="278892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735" y="292498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275234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השוק קובע מחיר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48640" y="30632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קונים מציעים, מוכרים מבקשים; המחיר נקבע בין המשתמשים, באפליקציה.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233672" y="370332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735" y="383938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366674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משוער לעיגון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48640" y="39776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RealShare מפרסמת הערכה לכל טוקן, מעודכנת לפי שמאות נכס בלתי תלויה לאורך זמן.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45262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מושק בהדרגה לפי מסת מחזיקים ורישוי — לא נבטיח נזילות יתר.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מיצוב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קרן ריט — אתה בוחר את הבניין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0" y="1783080"/>
            <a:ext cx="3886200" cy="2743200"/>
          </a:xfrm>
          <a:prstGeom prst="roundRect">
            <a:avLst>
              <a:gd name="adj" fmla="val 3333"/>
            </a:avLst>
          </a:prstGeom>
          <a:solidFill>
            <a:srgbClr val="F0F2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קרן ריט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872984" y="26974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7599" y="2772095"/>
            <a:ext cx="161666" cy="161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74920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קרן מאוגדת ועיוורת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72984" y="31546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99" y="3229295"/>
            <a:ext cx="161666" cy="1616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3118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בחירת נכס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72984" y="36118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599" y="3686495"/>
            <a:ext cx="161666" cy="1616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3575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תשואה ברמת הקרן בלבד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872984" y="4069080"/>
            <a:ext cx="310896" cy="310896"/>
          </a:xfrm>
          <a:prstGeom prst="ellipse">
            <a:avLst/>
          </a:prstGeom>
          <a:solidFill>
            <a:srgbClr val="A8493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599" y="41436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4032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המנהל מחליט מה נכנס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02920" y="1783080"/>
            <a:ext cx="3886200" cy="2743200"/>
          </a:xfrm>
          <a:prstGeom prst="roundRect">
            <a:avLst>
              <a:gd name="adj" fmla="val 3333"/>
            </a:avLst>
          </a:prstGeom>
          <a:solidFill>
            <a:srgbClr val="EEF5F2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91440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RealShare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3666744" y="26974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359" y="2772095"/>
            <a:ext cx="161666" cy="1616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בוחר את הנכס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666744" y="31546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1359" y="3229295"/>
            <a:ext cx="161666" cy="16166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8680" y="3118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זכות על אותו נכס בדיוק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666744" y="36118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359" y="3686495"/>
            <a:ext cx="161666" cy="16166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68680" y="3575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כלכלה שקופה לכל נכס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3666744" y="40690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1359" y="4143695"/>
            <a:ext cx="161666" cy="16166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68680" y="4032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3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מסחר במניה בשוק משני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תקדים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מוכח בחו"ל — פתוח לרווחה בבית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67044" y="18288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41364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1364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דירות מושכרות מטוקנות, ארה"ב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1364" y="28529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‎~$100M‎ גויסו · ‎~15K‎ מחזיקים · מאז 2019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8980" y="18288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3300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43300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ארה"ב, חלקי ומטוקן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43300" y="28529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‎+500‎ נכסים · ספר פקודות 24/7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" y="18288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236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1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השכרות חלקיות, ארה"ב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" y="28529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מגובה בזוס · SEC Reg A+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0F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A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נדל"ן מגורים חלקי-מטוקן הוכח אך עדיין בתחילתו — </a:t>
            </a:r>
            <a:pPr algn="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ואיש אינו משרת את הציר הישראלי. זה השטח הפנוי.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היקף עד אוג' 2025, לאימות. ראו docs/competitive-landscape.md.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המספרים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נראית עסקה אמיתית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0" y="1783080"/>
            <a:ext cx="384048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749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דירה בבודפשט ב-‎€150,000‎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459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שכ"ד שנתי ברוטו  </a:t>
            </a:r>
            <a:pPr algn="r" indent="0" marL="0">
              <a:buNone/>
            </a:pPr>
            <a:r>
              <a:rPr lang="en-US" sz="12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€7,500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41820" y="2953512"/>
            <a:ext cx="1333500" cy="420624"/>
          </a:xfrm>
          <a:prstGeom prst="rect">
            <a:avLst/>
          </a:prstGeom>
          <a:solidFill>
            <a:srgbClr val="A8493D"/>
          </a:solidFill>
          <a:ln/>
        </p:spPr>
      </p:sp>
      <p:sp>
        <p:nvSpPr>
          <p:cNvPr id="8" name="Shape 6"/>
          <p:cNvSpPr/>
          <p:nvPr/>
        </p:nvSpPr>
        <p:spPr>
          <a:xfrm>
            <a:off x="6773692" y="2953512"/>
            <a:ext cx="168128" cy="420624"/>
          </a:xfrm>
          <a:prstGeom prst="rect">
            <a:avLst/>
          </a:prstGeom>
          <a:solidFill>
            <a:srgbClr val="7C3A33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0" y="2953512"/>
            <a:ext cx="1698772" cy="42062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6758940" y="3429000"/>
            <a:ext cx="1516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עלויות €3,125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4920" y="3429000"/>
            <a:ext cx="1698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נטו €3,981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36667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€3,981</a:t>
            </a:r>
            <a:pPr algn="r"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נטו למשקיעים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74920" y="3995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2.65% תשואה נטו  ·  53% מהברוטו שורד את העלויות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‎€1,000‎ שלך על פני 5 שנים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38862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783080"/>
              </a:tblGrid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אופטימי · 10%/ש'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67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בסיס · 6%/ש'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+€133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+€133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הכנסת שכ"ד (5 ש')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+€611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+€338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עליית ערך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56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+€744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56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+€471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תשואה כוללת ל-5 ש'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B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~12%/ש'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B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~8%/ש'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5A6B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‎≈‎ שנתי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43342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חלקי ולא פיקדון? </a:t>
            </a:r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פיזור על פני בניינים, התחלה קטנה, חשיפה לעליית ערך שלא נגישה ישירות — ויציאה בלי למכור דירה שלמה.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להמחשה בלבד — לא תחזית או הצעה. לפני עמלת יציאה ~2%, עלויות מכירה, שע"ח ‎HUF/EUR‎, ומס בצד המשקיע הישראלי (מקטין עוד). מונע עליית-ערך: ב-0% צמיחה, תשואת 5 ש' ‎≈‎ שכ"ד בלבד. נתונים: docs/financial-model.xlsx.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עסקי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RealShare מרוויחה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עמלת הקמה אחת — ואז שלושה מקורות חוזרים שגדלים עם תיק הנכסים והמסחר.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8835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749" y="2494117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7628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עמלת הקמה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9457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~2% מכל סבב גיוס, בעת רכישת נכס.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5975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CEFF1"/>
          </a:solidFill>
          <a:ln/>
        </p:spPr>
      </p:sp>
      <p:sp>
        <p:nvSpPr>
          <p:cNvPr id="11" name="Text 8"/>
          <p:cNvSpPr/>
          <p:nvPr/>
        </p:nvSpPr>
        <p:spPr>
          <a:xfrm>
            <a:off x="715975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חד-פעמי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8523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629" y="2494117"/>
            <a:ext cx="351861" cy="3518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7316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עמלת פלטפורמה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79145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~7% מהשכ"ד — תשלומים, פיקוח, אוטומציית מס.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5663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3F0EA"/>
          </a:solidFill>
          <a:ln/>
        </p:spPr>
      </p:sp>
      <p:sp>
        <p:nvSpPr>
          <p:cNvPr id="18" name="Text 14"/>
          <p:cNvSpPr/>
          <p:nvPr/>
        </p:nvSpPr>
        <p:spPr>
          <a:xfrm>
            <a:off x="505663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חוזר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56032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8211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509" y="2494117"/>
            <a:ext cx="351861" cy="3518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7004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מרווח ניהול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268833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מארגנים ניהול נכס מקומי ושומרים מרווח של אחוזים בודדים.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95351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3F0EA"/>
          </a:solidFill>
          <a:ln/>
        </p:spPr>
      </p:sp>
      <p:sp>
        <p:nvSpPr>
          <p:cNvPr id="25" name="Text 20"/>
          <p:cNvSpPr/>
          <p:nvPr/>
        </p:nvSpPr>
        <p:spPr>
          <a:xfrm>
            <a:off x="295351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חוזר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20574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78992" y="2331720"/>
            <a:ext cx="676656" cy="67665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389" y="2494117"/>
            <a:ext cx="351861" cy="3518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" y="31181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עמלות מסחר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85216" y="34290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~2% על כל קנייה/מכירה בשוק המשני.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50392" y="3959352"/>
            <a:ext cx="1133856" cy="274320"/>
          </a:xfrm>
          <a:prstGeom prst="roundRect">
            <a:avLst>
              <a:gd name="adj" fmla="val 20000"/>
            </a:avLst>
          </a:prstGeom>
          <a:solidFill>
            <a:srgbClr val="E3F0EA"/>
          </a:solidFill>
          <a:ln/>
        </p:spPr>
      </p:sp>
      <p:sp>
        <p:nvSpPr>
          <p:cNvPr id="32" name="Text 26"/>
          <p:cNvSpPr/>
          <p:nvPr/>
        </p:nvSpPr>
        <p:spPr>
          <a:xfrm>
            <a:off x="850392" y="39593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חוזר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מארבעה מקורות חוזרים</a:t>
            </a:r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והם מצטברים ככל שנכנסים עוד נכסים ועוד מסחר.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ההכנסה החוזרת צריכה לעלות על עלות הפיקוח לנכס — הדרך לרווח בר-קיימא (דורש היקף ונפח מסחר אמיתי). עמלות להמחשה; ראו docs/financial-model.xlsx.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הכן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זה דק — וכאן אני רוצה את העיניים שלך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0" y="17830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0" y="2057400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8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2040" y="1984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ההכנסה החוזרת צריכה לגדול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9204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שנה 1 מרוויחה מהגיוס; המקורות החוזרים (פלטפורמה + ניהול + מסחר) צריכים לעלות על עלות הפיקוח ככל שגדל ההיקף.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057400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728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1984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נזילות לא מוכחת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8580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לבנות שוק, קשה למלא אותו — עומק אמיתי דורש מסת מחזיקים. הבטחת יתר היא הכשל מס' 1 בקטגוריה.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336499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15" name="Shape 11"/>
          <p:cNvSpPr/>
          <p:nvPr/>
        </p:nvSpPr>
        <p:spPr>
          <a:xfrm>
            <a:off x="7680960" y="363931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968" y="379732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כנייר ערך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92040" y="389534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הטוקן הוא נייר ערך מפוקח (רשות ני"ע) — החסם המרכזי. התוכנית: ייעוץ משפטי, דיאלוג עם מעבדת הפינטק של הרשות, סבב ראשון בפטור.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36499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1B3A5B"/>
          </a:solidFill>
          <a:ln/>
        </p:spPr>
      </p:sp>
      <p:sp>
        <p:nvSpPr>
          <p:cNvPr id="20" name="Shape 15"/>
          <p:cNvSpPr/>
          <p:nvPr/>
        </p:nvSpPr>
        <p:spPr>
          <a:xfrm>
            <a:off x="3474720" y="363931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728" y="379732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הגנה מחדלות פירעון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85800" y="389534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נכס מבודד ב-SPV ייעודי (חברה הונגרית), כך שמחזיקים לא נחשפים אם RealShare תיכשל. בדיקת חדלות פירעון בעיצומה.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הפתוחה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זה באמת צריך להתחיל?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  <a:gridCol w="1508760"/>
                <a:gridCol w="2011680"/>
              </a:tblGrid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ישראל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פורטוגל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אתונה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בודפשט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עליית ערך (5 ש')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A84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3.1–3.6%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3.8–4.7%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5.0–5.4%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5.0–5.6%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תשואת שכ"ד ברוטו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A84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€500–650K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€130–320K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€90–170K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€100–170K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כניסה (דירת משקיע)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A84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יקר מדי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מסלול הוויזה נסגר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היתר קל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חיכוך למשקיע ישראלי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87568" y="3968496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3"/>
          <p:cNvSpPr/>
          <p:nvPr/>
        </p:nvSpPr>
        <p:spPr>
          <a:xfrm>
            <a:off x="4535424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מיטיב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42816" y="3968496"/>
            <a:ext cx="146304" cy="146304"/>
          </a:xfrm>
          <a:prstGeom prst="rect">
            <a:avLst/>
          </a:prstGeom>
          <a:solidFill>
            <a:srgbClr val="A8493D"/>
          </a:solidFill>
          <a:ln/>
        </p:spPr>
      </p:sp>
      <p:sp>
        <p:nvSpPr>
          <p:cNvPr id="8" name="Text 5"/>
          <p:cNvSpPr/>
          <p:nvPr/>
        </p:nvSpPr>
        <p:spPr>
          <a:xfrm>
            <a:off x="2999232" y="3931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מקשה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המנגנון אגנוסטי לשוק; בודפשט הייתה רק אב-טיפוס. </a:t>
            </a:r>
            <a:pPr algn="ctr" indent="0" marL="0">
              <a:buNone/>
            </a:pPr>
            <a:r>
              <a:rPr lang="en-US" sz="140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מכיר את פורטוגל ויוון — לאן זה שייך?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עליית ערך = CAGR נומינלי במטבע מקומי (~5 ש'), ללא התאמת שע"ח (HUF/₪ ≠ EUR). מ-KSH/Eurostat, בנק יוון, INE, הלמ"ס; תשואות/כניסה: Global Property Guide / Investropa. לאימות.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אשמח לקבל ממך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תגובות כנות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67044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3A5B"/>
          </a:solidFill>
          <a:ln/>
        </p:spPr>
      </p:sp>
      <p:sp>
        <p:nvSpPr>
          <p:cNvPr id="5" name="Shape 3"/>
          <p:cNvSpPr/>
          <p:nvPr/>
        </p:nvSpPr>
        <p:spPr>
          <a:xfrm>
            <a:off x="6986016" y="2121408"/>
            <a:ext cx="768096" cy="76809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359" y="2305751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95644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תאתגר את המודל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95644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הכלכלה או המבנה נשברים?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8980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3A5B"/>
          </a:solidFill>
          <a:ln/>
        </p:spPr>
      </p:sp>
      <p:sp>
        <p:nvSpPr>
          <p:cNvPr id="10" name="Shape 7"/>
          <p:cNvSpPr/>
          <p:nvPr/>
        </p:nvSpPr>
        <p:spPr>
          <a:xfrm>
            <a:off x="4187952" y="2121408"/>
            <a:ext cx="768096" cy="76809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295" y="2305751"/>
            <a:ext cx="399410" cy="3994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הגאוגרפיה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97580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השווקים שלך — פורטוגל, יוון, ישראל. איפה להתחיל?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3A5B"/>
          </a:solidFill>
          <a:ln/>
        </p:spPr>
      </p:sp>
      <p:sp>
        <p:nvSpPr>
          <p:cNvPr id="15" name="Shape 11"/>
          <p:cNvSpPr/>
          <p:nvPr/>
        </p:nvSpPr>
        <p:spPr>
          <a:xfrm>
            <a:off x="1389888" y="2121408"/>
            <a:ext cx="768096" cy="768096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231" y="2305751"/>
            <a:ext cx="399410" cy="3994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עמיתיך ישתמשו?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99516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6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ביקוש אמיתי, או שפשוט יקנו דירה ישירות?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ועוד — האם תשקול תפקיד ייעוץ מתמשך?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E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עדן הייזר  ·  eden@tennasys.com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A5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הנחות ומקורות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66344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הנחות הדוגמה (בודפשט, תרחיש בסיס)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26280" y="1874520"/>
            <a:ext cx="4069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נכס: ‎€150,000‎ (50 מ"ר · ‎~€3,000/מ"ר‎, רובעים מרכזיים)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תשואה ברוטו 5.0% ← ‎€7,500‎ שכ"ד; ניהול 10%, השכרה/תחלופה 4%, אי-תפוסה 5%, תחזוקה 5%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דמי ניהול RealShare 7%; ועד בית ‎€600‎; ביטוח ‎€200‎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עלויות תפעול בסך ‎€3,125‎; מס חברות הונגרי 9% (‎≈€394‎); ארנונה ‎~€0‎ (מגורים מרכזי)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עלויות רכישה ‎~6%‎, מגולמות בגיוס; השכרה ארוכת-טווח (לא קצרת-טווח)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 בצד המשקיע הישראלי לא נכלל — מקטין עוד את הנטו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94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עליית ערך: KSH / Eurostat (הונגריה), בנק יוון, INE (פורטוגל), הלמ"ס (ישראל)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תשואות ומחירי כניסה: Global Property Guide, Investropa (2025–26)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גידול בהשקעות קמעונאיות: הבורסה בת"א / CNBC (2025), ISRAEL21c (2021)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כלכלת העסקה: docs/financial-model.xlsx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מתחרים ומיצוב מול ריט: docs/competitive-landscape.md</a:t>
            </a:r>
            <a:endParaRPr lang="en-US" sz="1100" dirty="0"/>
          </a:p>
          <a:p>
            <a:pPr algn="r"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רגולציה ומס: docs/regulatory-strategy.md (DEC-02, DEC-04)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חסוי — לדיון בלבד; אינו הצעה. הנתונים בסיסיים לאימוּת; קיים סיכון להפסד הון. סיווג הטוקן והמיסוי כפופים להחלטת רשות המסים/רשות ני"ע. אין באמור ייעוץ השקעות, משפטי או מס.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RealShare — תדריך ליועץ</dc:title>
  <dc:subject>PptxGenJS Presentation</dc:subject>
  <dc:creator>Eden Heiser</dc:creator>
  <cp:lastModifiedBy>Eden Heiser</cp:lastModifiedBy>
  <cp:revision>1</cp:revision>
  <dcterms:created xsi:type="dcterms:W3CDTF">2026-06-29T07:48:41Z</dcterms:created>
  <dcterms:modified xsi:type="dcterms:W3CDTF">2026-06-29T07:48:41Z</dcterms:modified>
</cp:coreProperties>
</file>