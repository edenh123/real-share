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A6B78"/>
                </a:solidFill>
                <a:latin typeface="Calibri"/>
              </a:rPr>
              <a:t>New Israeli retail brokerage accounts (000s)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retail accounts (000s)</c:v>
                </c:pt>
              </c:strCache>
            </c:strRef>
          </c:tx>
          <c:spPr>
            <a:solidFill>
              <a:srgbClr val="0F22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45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2020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141</c:v>
                </c:pt>
                <c:pt idx="2">
                  <c:v>54</c:v>
                </c:pt>
                <c:pt idx="3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2E7D5B"/>
            </a:solidFill>
            <a:ln w="3175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72</c:v>
                </c:pt>
                <c:pt idx="2">
                  <c:v>71</c:v>
                </c:pt>
                <c:pt idx="3">
                  <c:v>74</c:v>
                </c:pt>
                <c:pt idx="4">
                  <c:v>76</c:v>
                </c:pt>
                <c:pt idx="5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383280"/>
            <a:ext cx="3840480" cy="3840480"/>
          </a:xfrm>
          <a:prstGeom prst="ellipse">
            <a:avLst/>
          </a:prstGeom>
          <a:solidFill>
            <a:srgbClr val="1F66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4114800"/>
            <a:ext cx="2377440" cy="2377440"/>
          </a:xfrm>
          <a:prstGeom prst="ellipse">
            <a:avLst/>
          </a:prstGeom>
          <a:solidFill>
            <a:srgbClr val="E0A45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RealShare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ownership of rental property for Israeli investors —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 in Israel and abroad.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draft I'd value your honest read 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briefing  ·  June 2026  ·  Eden Heiser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46817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 · not an offer or investment/tax advice · illustrative figures, capital at risk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Israelis want real estate — but the door is heavy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246864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ticket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423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apartment means €100K+ up front. Most never get to start.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78308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207568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76" y="2246864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eggs in one flat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43600" y="2423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property is a concentrated, undiversified bet.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6732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3938504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721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&amp; hands-on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property means managing tenants and repairs from afar.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4747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76732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376" y="3938504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721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&amp; tax-messy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4360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exit, and cross-border tax reporting is a maze.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appetite has never been higher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5000" b="1" dirty="0">
                <a:solidFill>
                  <a:srgbClr val="A5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161,000</a:t>
            </a:r>
            <a:endParaRPr lang="en-US" sz="5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Israeli brokerage accounts opened in 2024</a:t>
            </a:r>
            <a:endParaRPr lang="en-US" sz="5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triple the 2023 level.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100K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accounts / year before 2020.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+87,000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in H1 2025 alone.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&amp; Gen-Z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cited as the driving wave.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178308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TASE / CNBC (2025); ISRAEL21c / TASE (2021). Media-reported TASE figures — verify against TASE annual reports.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a slice. Earn like an owner.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 fraction of a vetted rental property → proportional rent + capital gains → no management. Start with as little as one token.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48056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7784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appraise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listed; independent valuation.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47672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30552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2596896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40280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40280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in escrow. If it fails: refund + interest.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0168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13048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22776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activate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22776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RealShare buys; your tokens go live.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12664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95544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61888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5961888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05272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monthly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05272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collected, paid out proportionally.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178040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44384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31" name="Text 29"/>
          <p:cNvSpPr/>
          <p:nvPr/>
        </p:nvSpPr>
        <p:spPr>
          <a:xfrm>
            <a:off x="7644384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87768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by vote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87768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Supermajority can trigger a sale.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COMES FROM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model: “Blink for real estate”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(founded 2023) made commission-free, fractional 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investing normal for Israelis — and won by 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the annual tax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7925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→ stocks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tickets. Commission-free. Taxes filed for you.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0" y="22860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60604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098" y="27925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RealShare → property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playbook, applied to real estate.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4048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confirmed to tax like a stock, RealShare can automate the tax report too — </a:t>
            </a:r>
            <a:pPr algn="ctr" indent="0" marL="0">
              <a:buNone/>
            </a:pPr>
            <a:r>
              <a:rPr lang="en-US" sz="1450" b="1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automation is the prize.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OWNERSHIP IS RECORDED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share is a token — the wrapper, not the 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2606040"/>
          </a:xfrm>
          <a:prstGeom prst="roundRect">
            <a:avLst>
              <a:gd name="adj" fmla="val 3509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1883664" y="2011680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840" y="218285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property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207008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0A458"/>
          </a:solidFill>
          <a:ln/>
        </p:spPr>
      </p:sp>
      <p:sp>
        <p:nvSpPr>
          <p:cNvPr id="9" name="Shape 6"/>
          <p:cNvSpPr/>
          <p:nvPr/>
        </p:nvSpPr>
        <p:spPr>
          <a:xfrm>
            <a:off x="1499616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792224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084832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377440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670048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962656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55264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207008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499616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792224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084832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377440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670048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962656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255264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tradeable tokens — one (gold) is your share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178308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1936699"/>
            <a:ext cx="332842" cy="33284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38928" y="176479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claim, not a key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138928" y="2084832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C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encodes your financial rights — net rent + sale proceeds — to that specific property. Not title, not company equity.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297680" y="2953512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99" y="3107131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38928" y="293522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blockchain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5138928" y="3255264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C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Plumbing: a clean record of who owns what, instant transfer on the secondary market, one identity per holder.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297680" y="4069080"/>
            <a:ext cx="4297680" cy="713232"/>
          </a:xfrm>
          <a:prstGeom prst="roundRect">
            <a:avLst/>
          </a:prstGeom>
          <a:solidFill>
            <a:srgbClr val="E0A458"/>
          </a:solidFill>
          <a:ln/>
        </p:spPr>
      </p:sp>
      <p:sp>
        <p:nvSpPr>
          <p:cNvPr id="34" name="Text 29"/>
          <p:cNvSpPr/>
          <p:nvPr/>
        </p:nvSpPr>
        <p:spPr>
          <a:xfrm>
            <a:off x="4526280" y="4069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to be treated like a security (“like a stock”)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tax &amp; reporting can be clean and automatable — classification is pending an ITA ruling.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BY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built-in market for your tokens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in-app marketplace where holders buy and sell tokens — a way to trade your stake without selling a whole flat.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832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383280" cy="566928"/>
          </a:xfrm>
          <a:prstGeom prst="roundRect">
            <a:avLst>
              <a:gd name="adj" fmla="val 16129"/>
            </a:avLst>
          </a:prstGeom>
          <a:solidFill>
            <a:srgbClr val="0F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04288"/>
            <a:ext cx="3383280" cy="27432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 · DISTRICT VII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token price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€78</a:t>
            </a:r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↑ €3 vs. last quarter</a:t>
            </a:r>
            <a:endParaRPr lang="en-US" sz="3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3493008"/>
          <a:ext cx="2926080" cy="457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822960" y="400507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005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400507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0F2233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0" y="4005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44897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 — not live market data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43400" y="18745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463" y="20105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93208" y="18379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anytime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093208" y="21488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tokens or accept an offer — exit without selling the whole building.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343400" y="27889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463" y="292498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93208" y="27523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sets the price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093208" y="30632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bid, sellers ask; price is discovered peer-to-peer, in-app.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343400" y="37033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63" y="383938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93208" y="36667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price to anchor on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093208" y="39776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RealShare publishes a per-token estimate, re-based on independent property revaluations over time.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343400" y="45262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in as holder depth and licensing allow — we won't over-promise liquidity.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REIT — you pick the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F0F2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REIT fund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735" y="2772095"/>
            <a:ext cx="161666" cy="161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blind pooled fund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1546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" y="3229295"/>
            <a:ext cx="161666" cy="1616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18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property selection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60120" y="36118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35" y="3686495"/>
            <a:ext cx="161666" cy="1616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75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Fund-level returns only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60120" y="40690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35" y="41436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decides what's in it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75488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EEF5F2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16636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6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RealShare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5166360" y="26974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975" y="2772095"/>
            <a:ext cx="161666" cy="1616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23560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specific asset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166360" y="31546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0975" y="3229295"/>
            <a:ext cx="161666" cy="16166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23560" y="3118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on that exact property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166360" y="36118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0975" y="3686495"/>
            <a:ext cx="161666" cy="16166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623560" y="3575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per-property economics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5166360" y="40690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0975" y="4143695"/>
            <a:ext cx="161666" cy="16166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623560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your share on a secondary market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abroad — wide open at home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5236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5236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tokenized rental homes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~$100M placed · ~15K holders · since 2019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8980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3300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Lofty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3300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fractional &amp; tokenized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43300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properties · 24/7 order book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7044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1364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41364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fractional rentals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1364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Bezos-backed · SEC Reg A+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0F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fractional residential is validated but still early — </a:t>
            </a:r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nobody serves the Israel corridor. That's the white space.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figures ≤ Aug 2025, to verify. See docs/competitive-landscape.md.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real deal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€150,000 Budapest flat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annual rent  </a:t>
            </a:r>
            <a:pPr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953512"/>
            <a:ext cx="1333500" cy="420624"/>
          </a:xfrm>
          <a:prstGeom prst="rect">
            <a:avLst/>
          </a:prstGeom>
          <a:solidFill>
            <a:srgbClr val="A8493D"/>
          </a:solidFill>
          <a:ln/>
        </p:spPr>
      </p:sp>
      <p:sp>
        <p:nvSpPr>
          <p:cNvPr id="8" name="Shape 6"/>
          <p:cNvSpPr/>
          <p:nvPr/>
        </p:nvSpPr>
        <p:spPr>
          <a:xfrm>
            <a:off x="2202180" y="2953512"/>
            <a:ext cx="168128" cy="420624"/>
          </a:xfrm>
          <a:prstGeom prst="rect">
            <a:avLst/>
          </a:prstGeom>
          <a:solidFill>
            <a:srgbClr val="7C3A33"/>
          </a:solidFill>
          <a:ln/>
        </p:spPr>
      </p:sp>
      <p:sp>
        <p:nvSpPr>
          <p:cNvPr id="9" name="Shape 7"/>
          <p:cNvSpPr/>
          <p:nvPr/>
        </p:nvSpPr>
        <p:spPr>
          <a:xfrm>
            <a:off x="2370308" y="2953512"/>
            <a:ext cx="1698772" cy="42062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29000"/>
            <a:ext cx="1516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€3,125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0308" y="3429000"/>
            <a:ext cx="1698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€3,981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6667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€3,981</a:t>
            </a:r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net to investors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3995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2.65% net yield  ·  53% of gross survives costs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€1,000 over a 5-year hold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194560"/>
          <a:ext cx="38862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1051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· 6%/yr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· 10%/yr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6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income (5 yr)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+€133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+€133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appreciation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+€338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+€611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5-yr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5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+€471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5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+€744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annualized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~8%/yr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~12%/yr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43342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fractional, not a deposit? </a:t>
            </a:r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across buildings, start tiny, reach price growth you can't access directly — and exit without selling a whole flat.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a forecast. Before exit (~2%), sale costs, FX, and Israeli investor tax. Appreciation-driven — at 0% growth, 5-yr return ≈ rent only. Figures: docs/financial-model.xlsx.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RealShare makes money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setup fee — then three streams that recur as the property book and trading grow.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389" y="2494117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521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of each funding round, when a property is bought.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039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CEFF1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09" y="2494117"/>
            <a:ext cx="351861" cy="3518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7004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8833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 of rent — payouts, oversight, tax automation.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95351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18" name="Text 14"/>
          <p:cNvSpPr/>
          <p:nvPr/>
        </p:nvSpPr>
        <p:spPr>
          <a:xfrm>
            <a:off x="295351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6344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8523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629" y="2494117"/>
            <a:ext cx="351861" cy="3518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7316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margin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79145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arrange local property management and keep a few % on top.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5663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25" name="Text 20"/>
          <p:cNvSpPr/>
          <p:nvPr/>
        </p:nvSpPr>
        <p:spPr>
          <a:xfrm>
            <a:off x="505663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6656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8835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749" y="2494117"/>
            <a:ext cx="351861" cy="3518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7628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fees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89457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on every buy/sell in the secondary marketplace.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5975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32" name="Text 26"/>
          <p:cNvSpPr/>
          <p:nvPr/>
        </p:nvSpPr>
        <p:spPr>
          <a:xfrm>
            <a:off x="715975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streams recur</a:t>
            </a:r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compound as more properties and more trading come on.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must out-scale per-property oversight cost — the path to durable profit (needs scale + real trading volume). Fees illustrative; see docs/financial-model.xlsx.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it's thin — and I want your eyes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must scale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earns on the raise; the recurring streams (platform + management + trading) must out-scale per-property oversight as we add volume.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7830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10" name="Shape 7"/>
          <p:cNvSpPr/>
          <p:nvPr/>
        </p:nvSpPr>
        <p:spPr>
          <a:xfrm>
            <a:off x="5010912" y="2057400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20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984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liquidity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85216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is easy to build, hard to fill — real depth needs a critical mass of holders. Over-promising it is the category's #1 failure.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36499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63931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80" y="379732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classification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89534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token is a regulated security (ISA) is the master gate. Our plan: counsel engaged, ISA Fintech-Lab dialogue, first round inside an exemption.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36499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20" name="Shape 15"/>
          <p:cNvSpPr/>
          <p:nvPr/>
        </p:nvSpPr>
        <p:spPr>
          <a:xfrm>
            <a:off x="5010912" y="363931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20" y="379732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remoteness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852160" y="389534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property ring-fenced in its own SPV (a Hungarian company), so holders aren't exposed if RealShare fails. Insolvency review underway.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this actually launch?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08760"/>
                <a:gridCol w="1508760"/>
                <a:gridCol w="1508760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Budapest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Athens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Portugal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Israel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Appreciation (5-yr)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rental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5.0–5.6%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5.0–5.4%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3.8–4.7%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3.1–3.6%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(investor flat)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€100–170K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€90–170K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€130–320K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€500–650K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for an Israeli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permit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Golden-Visa route 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310128" y="3968496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3"/>
          <p:cNvSpPr/>
          <p:nvPr/>
        </p:nvSpPr>
        <p:spPr>
          <a:xfrm>
            <a:off x="3511296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3968496"/>
            <a:ext cx="146304" cy="146304"/>
          </a:xfrm>
          <a:prstGeom prst="rect">
            <a:avLst/>
          </a:prstGeom>
          <a:solidFill>
            <a:srgbClr val="A8493D"/>
          </a:solidFill>
          <a:ln/>
        </p:spPr>
      </p:sp>
      <p:sp>
        <p:nvSpPr>
          <p:cNvPr id="8" name="Text 5"/>
          <p:cNvSpPr/>
          <p:nvPr/>
        </p:nvSpPr>
        <p:spPr>
          <a:xfrm>
            <a:off x="4956048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unfavorable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market-agnostic; Budapest was just the prototype. </a:t>
            </a:r>
            <a:pPr algn="ctr" indent="0" marL="0">
              <a:buNone/>
            </a:pPr>
            <a:r>
              <a:rPr lang="en-US" sz="1400" b="1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Portugal &amp; Greece — where does this belong?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= local-currency nominal CAGR (~5-yr), not FX-adjusted (HUF/ILS ≠ EUR). Derived from KSH/Eurostat, Bank of Greece, INE, CBS; yields/entry: Global Property Guide / Investropa. Verify live.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VALUE FROM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 reactions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231" y="2305751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516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the model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9516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economics or the structure break?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898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10" name="Shape 7"/>
          <p:cNvSpPr/>
          <p:nvPr/>
        </p:nvSpPr>
        <p:spPr>
          <a:xfrm>
            <a:off x="4187952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95" y="2305751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read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97580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markets — Portugal, Greece, Israel. Where should this start?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67044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15" name="Shape 11"/>
          <p:cNvSpPr/>
          <p:nvPr/>
        </p:nvSpPr>
        <p:spPr>
          <a:xfrm>
            <a:off x="6986016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359" y="2305751"/>
            <a:ext cx="399410" cy="3994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5644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your peers use it?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95644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demand, or would they just buy the flat directly?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would you consider an ongoing advisory role?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Heiser  ·  eden@tennasys.com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5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Worked-example assumptions (Budapest, base case)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price: €150,000 (50 m² · ~€3,000/m², inner districts)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yield 5.0% → €7,500 rent; PM 10%, letting/turnover 4%, vacancy 5%, maintenance 5%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RealShare management skim 7%; building service charge €600; insurance €200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costs total €3,125; Hungarian CIT 9% (≈€394); property tax ~€0 (inner residential)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~6%, capitalized into the raise; long-term rent (not short-term/Airbnb)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investor-side tax not included — reduces net further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00600" y="1554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1874520"/>
            <a:ext cx="3794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Appreciation: KSH / Eurostat (HU), Bank of Greece, INE (PT), CBS (IL)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&amp; entry prices: Global Property Guide, Investropa (2025–26)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Retail-investing surge: TASE / CNBC (2025), ISRAEL21c (2021)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economics: docs/financial-model.xlsx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&amp; REIT framing: docs/competitive-landscape.md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tax: docs/regulatory-strategy.md (DEC-02, DEC-04)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only; not an offer. Figures are baselines to verify live; capital at risk. Token classification &amp; tax pending ITA/ISA. Not investment, legal, or tax advice.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RealShare — Advisor Briefing</dc:title>
  <dc:subject>PptxGenJS Presentation</dc:subject>
  <dc:creator>Eden Heiser</dc:creator>
  <cp:lastModifiedBy>Eden Heiser</cp:lastModifiedBy>
  <cp:revision>1</cp:revision>
  <dcterms:created xsi:type="dcterms:W3CDTF">2026-06-29T07:48:41Z</dcterms:created>
  <dcterms:modified xsi:type="dcterms:W3CDTF">2026-06-29T07:48:41Z</dcterms:modified>
</cp:coreProperties>
</file>